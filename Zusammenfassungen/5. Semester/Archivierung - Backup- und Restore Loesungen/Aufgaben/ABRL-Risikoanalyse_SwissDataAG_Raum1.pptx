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1" r:id="rId5"/>
    <p:sldId id="262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F9E32B-A6E0-600C-9C19-E606AE0BC455}" v="90" dt="2026-04-14T17:18:59.967"/>
    <p1510:client id="{34370813-8DC1-8A34-F8E9-C00349FF0A33}" v="171" dt="2026-04-14T17:23:39.110"/>
    <p1510:client id="{9DD8B3D3-B97A-45BA-B9C6-852B69C1FADA}" v="89" dt="2026-04-14T17:30:45.577"/>
    <p1510:client id="{E22611FF-E4B2-452A-A3E3-C0F6E084F561}" v="69" dt="2026-04-14T17:31:47.628"/>
    <p1510:client id="{F02308DE-1814-71F2-EE09-3CFCF0B07607}" v="626" dt="2026-04-14T17:26:50.429"/>
    <p1510:client id="{F45540B5-2C0E-9142-B41A-D4B04FB9D21C}" v="63" dt="2026-04-14T17:31:05.5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75"/>
    <p:restoredTop sz="94710"/>
  </p:normalViewPr>
  <p:slideViewPr>
    <p:cSldViewPr snapToGrid="0">
      <p:cViewPr varScale="1">
        <p:scale>
          <a:sx n="128" d="100"/>
          <a:sy n="128" d="100"/>
        </p:scale>
        <p:origin x="8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38340B-2FE5-4EC7-971F-D8E2C33378D2}" type="datetimeFigureOut">
              <a:rPr lang="de-CH" smtClean="0"/>
              <a:t>14.04.26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D7AD66-06FE-4F65-8C6B-93B1F59AA04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82485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DAEFF0-4F56-3E26-368D-95DE870C5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1277E02-59EF-653C-681E-F66FD10115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756DFA-FF2B-FCBC-2770-C8E877FBF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6DBD-29C9-470C-941A-ED634F3279C1}" type="datetime1">
              <a:rPr lang="de-DE" smtClean="0"/>
              <a:t>14.04.26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C40448-C165-A31B-CDB3-1723B0AA6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12A3D2-84D6-28D8-01C0-6BB666460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F7FDC-8310-F140-A008-FB332D8767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9284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59F2A0-C9F9-78AC-C437-F886AA575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2FCE03-2779-C07E-8F83-78B90D5E1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1F14B4-38A6-3276-A49B-16E08B93F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DE15F-F4A4-452A-AB99-B36685634CC5}" type="datetime1">
              <a:rPr lang="de-DE" smtClean="0"/>
              <a:t>14.04.26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E0B553-9F79-35D3-134C-9E273C079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B9C4AE-0603-A128-FE18-5109FBD56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F7FDC-8310-F140-A008-FB332D8767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6083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05ED61-E538-0877-EA4D-B8FA7D5AF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F47CD18-FB11-5E30-FC73-256D3232F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1B780E9-D369-417E-6FAA-A8B07686D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32DC-814E-4811-8DFE-1785CE46D63C}" type="datetime1">
              <a:rPr lang="de-DE" smtClean="0"/>
              <a:t>14.04.26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E43DBAD-2905-A714-4E47-C03D97092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A298A3F-977D-583E-3762-EE3DC37C2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F7FDC-8310-F140-A008-FB332D8767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7231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D7F7B1-DCEF-7C48-B800-9BDDBC178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140AE7-D5CF-192C-1FFA-B550D67A07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9891B2-D64F-D7AD-BC3E-748EAF8097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CB4775B-5254-811A-A93C-F27F232F4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D5BED-F9A9-4B84-8482-8F9B8EDEA377}" type="datetime1">
              <a:rPr lang="de-DE" smtClean="0"/>
              <a:t>14.04.26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0CCB362-4801-75F6-BF3F-3496517B4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0B6F108-FD1F-DFF9-C7AE-15C59A91E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F7FDC-8310-F140-A008-FB332D8767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5665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94DC3B-7196-024D-9E2D-3EC2E9BC6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64DA66-7818-FD40-A117-54578B88E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0EE2243-DBD7-28F2-19F4-4390FE33E4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3BF859A-E836-E591-4F5B-16C12707D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0E3DD0C-35E2-BECC-764F-159307792C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47842E8-9FA9-885A-52C9-10035C0F5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C0AB2-73C3-49C1-A0F0-ABD62AC10D42}" type="datetime1">
              <a:rPr lang="de-DE" smtClean="0"/>
              <a:t>14.04.26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7045E67-821A-A2A5-E0F3-C1EB2114D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F913A90-59F4-07C0-0C5F-9F6A70E0E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F7FDC-8310-F140-A008-FB332D8767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717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3F6840-72C0-D2EF-8B84-B2EB7DE17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5E97D7B-230F-045D-95BA-43E7DD484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2D052-000B-4704-8CB8-F1F3A85CE15C}" type="datetime1">
              <a:rPr lang="de-DE" smtClean="0"/>
              <a:t>14.04.26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7362E1C-6EF3-7A08-B32F-13650CEEC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CD89E68-32C9-DC05-96A8-CA27E63A3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F7FDC-8310-F140-A008-FB332D8767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2304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DFBEFDF-B0F2-2BD8-D5BC-F6C63A9A2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15F3B-D334-4966-9F1D-29C12464FBEB}" type="datetime1">
              <a:rPr lang="de-DE" smtClean="0"/>
              <a:t>14.04.26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0F1BE10-6A72-BC92-69ED-5220BD622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2A9D50E-8B3D-0639-251E-F98A82968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F7FDC-8310-F140-A008-FB332D8767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3326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BA7DD9-2F7D-0A88-3692-22AE5F6CF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EF14282-4024-BCFF-9453-B385C5F45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9E58698-8701-0EFC-0C6A-8F106C4319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C170739-B111-5A77-1546-360C6C048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4967A-E1D2-41AE-9056-57BAC3FE016E}" type="datetime1">
              <a:rPr lang="de-DE" smtClean="0"/>
              <a:t>14.04.26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280B11A-3C74-A90B-9AF2-3B3C3FFBE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51478CA-21EB-EE8E-C5B1-CA4230FC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F7FDC-8310-F140-A008-FB332D8767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1671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215218-0A24-878E-F836-C549F1DC7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4B86060-07A7-ADBB-07AE-71BB96BFF9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EF63A53-F069-93CE-6977-9F93C90101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0455E8E-728B-5240-9DBF-5A4D36DA4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EA343-C3CD-456B-8261-BDFA345EBA7D}" type="datetime1">
              <a:rPr lang="de-DE" smtClean="0"/>
              <a:t>14.04.26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32AAD16-5064-5029-3ACA-3C3EC2B0B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E6BBAB8-5866-CC0E-FA0C-9E00DB647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F7FDC-8310-F140-A008-FB332D8767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2757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11ADDE-1CB5-AFB6-17AB-4E438126B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8310EA3-777D-4CE6-EBEA-26393D3922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0F21AC6-BA9F-7637-65F6-2B1BA5E7D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02BE-1477-448A-9EFB-43038318449B}" type="datetime1">
              <a:rPr lang="de-DE" smtClean="0"/>
              <a:t>14.04.26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7C0607-065B-9F95-76A1-973374478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6F2E68-EFCF-A0DD-0A5B-064FAF5C2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F7FDC-8310-F140-A008-FB332D8767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6855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5E454B3-1810-ACBA-446D-A9A9C73BE2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92B3225-8EF4-F884-9F45-45C314F8D6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FB5524-DD10-DD2E-8E73-59CF0335D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A62BB-692C-4BDB-B095-4B6A33AB2F72}" type="datetime1">
              <a:rPr lang="de-DE" smtClean="0"/>
              <a:t>14.04.26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EF7CB08-484D-307E-AFAD-24EE08C72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DD178D-83D3-BA27-E54E-60112B323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F7FDC-8310-F140-A008-FB332D8767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3269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E48DAF0-2DBB-8C31-A844-0023AD7CF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E82C50-3ABF-0099-7FCF-99C7CB1F0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5EB552-99E4-2AE2-8CFF-E7343FA36D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E075C2-6B18-405B-A36A-99B2D9F4B5B7}" type="datetime1">
              <a:rPr lang="de-DE" smtClean="0"/>
              <a:t>14.04.26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A0D6E9-112F-6606-F88F-8602DE5BC4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0C04ED0-7DAE-7906-5961-6EC9270E0C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AF7FDC-8310-F140-A008-FB332D8767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2123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8EC3FB-EE03-B074-AB2F-DAD6879203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de-DE" sz="4800">
                <a:solidFill>
                  <a:srgbClr val="FFFFFF"/>
                </a:solidFill>
              </a:rPr>
              <a:t>Risiken der Datensicherung und Archivierung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FA25DB9-BD7F-89C0-E1B4-D5D1E67945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61235" y="3909049"/>
            <a:ext cx="9078628" cy="8606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z="2200">
                <a:solidFill>
                  <a:srgbClr val="FFFFFF"/>
                </a:solidFill>
              </a:rPr>
              <a:t>Gruppenaufgabe 1</a:t>
            </a:r>
          </a:p>
          <a:p>
            <a:r>
              <a:rPr lang="de-DE" sz="2200">
                <a:solidFill>
                  <a:srgbClr val="FFFFFF"/>
                </a:solidFill>
              </a:rPr>
              <a:t>Raum 1</a:t>
            </a:r>
          </a:p>
        </p:txBody>
      </p:sp>
    </p:spTree>
    <p:extLst>
      <p:ext uri="{BB962C8B-B14F-4D97-AF65-F5344CB8AC3E}">
        <p14:creationId xmlns:p14="http://schemas.microsoft.com/office/powerpoint/2010/main" val="2694868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89C84DE-8955-E0A9-5ECE-FB778FCAB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057" y="348865"/>
            <a:ext cx="10771564" cy="877729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Technisch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04EBD984-EDA7-6A39-ACEA-640224C297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1151616"/>
              </p:ext>
            </p:extLst>
          </p:nvPr>
        </p:nvGraphicFramePr>
        <p:xfrm>
          <a:off x="644056" y="1997961"/>
          <a:ext cx="10927830" cy="4008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1211">
                  <a:extLst>
                    <a:ext uri="{9D8B030D-6E8A-4147-A177-3AD203B41FA5}">
                      <a16:colId xmlns:a16="http://schemas.microsoft.com/office/drawing/2014/main" val="481963213"/>
                    </a:ext>
                  </a:extLst>
                </a:gridCol>
                <a:gridCol w="1780858">
                  <a:extLst>
                    <a:ext uri="{9D8B030D-6E8A-4147-A177-3AD203B41FA5}">
                      <a16:colId xmlns:a16="http://schemas.microsoft.com/office/drawing/2014/main" val="2757534726"/>
                    </a:ext>
                  </a:extLst>
                </a:gridCol>
                <a:gridCol w="4885761">
                  <a:extLst>
                    <a:ext uri="{9D8B030D-6E8A-4147-A177-3AD203B41FA5}">
                      <a16:colId xmlns:a16="http://schemas.microsoft.com/office/drawing/2014/main" val="2382715635"/>
                    </a:ext>
                  </a:extLst>
                </a:gridCol>
              </a:tblGrid>
              <a:tr h="950743">
                <a:tc>
                  <a:txBody>
                    <a:bodyPr/>
                    <a:lstStyle/>
                    <a:p>
                      <a:r>
                        <a:rPr lang="de-CH" sz="2500"/>
                        <a:t>Identifizierte Risiken</a:t>
                      </a:r>
                      <a:endParaRPr lang="de-DE" sz="2500"/>
                    </a:p>
                  </a:txBody>
                  <a:tcPr marL="128479" marR="128479" marT="64239" marB="64239" anchor="ctr"/>
                </a:tc>
                <a:tc>
                  <a:txBody>
                    <a:bodyPr/>
                    <a:lstStyle/>
                    <a:p>
                      <a:r>
                        <a:rPr lang="de-CH" sz="2500"/>
                        <a:t>Relevanz</a:t>
                      </a:r>
                      <a:endParaRPr lang="de-DE" sz="2500"/>
                    </a:p>
                  </a:txBody>
                  <a:tcPr marL="128479" marR="128479" marT="64239" marB="64239" anchor="ctr"/>
                </a:tc>
                <a:tc>
                  <a:txBody>
                    <a:bodyPr/>
                    <a:lstStyle/>
                    <a:p>
                      <a:r>
                        <a:rPr lang="de-CH" sz="2500"/>
                        <a:t>Präventionsmassnahmen </a:t>
                      </a:r>
                      <a:endParaRPr lang="de-DE" sz="2500"/>
                    </a:p>
                  </a:txBody>
                  <a:tcPr marL="128479" marR="128479" marT="64239" marB="64239" anchor="ctr"/>
                </a:tc>
                <a:extLst>
                  <a:ext uri="{0D108BD9-81ED-4DB2-BD59-A6C34878D82A}">
                    <a16:rowId xmlns:a16="http://schemas.microsoft.com/office/drawing/2014/main" val="898575004"/>
                  </a:ext>
                </a:extLst>
              </a:tr>
              <a:tr h="1336179">
                <a:tc>
                  <a:txBody>
                    <a:bodyPr/>
                    <a:lstStyle/>
                    <a:p>
                      <a:r>
                        <a:rPr lang="de-CH" sz="2500" dirty="0"/>
                        <a:t>Hardwaredefekte (z.B. defekte NAS/Bänder)</a:t>
                      </a:r>
                      <a:endParaRPr lang="de-DE" sz="2500" dirty="0"/>
                    </a:p>
                  </a:txBody>
                  <a:tcPr marL="128479" marR="128479" marT="64239" marB="64239" anchor="ctr"/>
                </a:tc>
                <a:tc>
                  <a:txBody>
                    <a:bodyPr/>
                    <a:lstStyle/>
                    <a:p>
                      <a:r>
                        <a:rPr lang="de-CH" sz="2500"/>
                        <a:t>Hoch</a:t>
                      </a:r>
                      <a:endParaRPr lang="de-DE" sz="2500"/>
                    </a:p>
                  </a:txBody>
                  <a:tcPr marL="128479" marR="128479" marT="64239" marB="64239" anchor="ctr"/>
                </a:tc>
                <a:tc>
                  <a:txBody>
                    <a:bodyPr/>
                    <a:lstStyle/>
                    <a:p>
                      <a:r>
                        <a:rPr lang="de-CH" sz="2500" dirty="0"/>
                        <a:t>Einführung eines </a:t>
                      </a:r>
                      <a:r>
                        <a:rPr lang="de-CH" sz="2500" b="1" dirty="0"/>
                        <a:t>redundanten Speichersystems</a:t>
                      </a:r>
                      <a:r>
                        <a:rPr lang="de-CH" sz="2500" dirty="0"/>
                        <a:t> (z.B. RAID-Level Optimierung).</a:t>
                      </a:r>
                      <a:endParaRPr lang="de-DE" sz="2500" dirty="0"/>
                    </a:p>
                  </a:txBody>
                  <a:tcPr marL="128479" marR="128479" marT="64239" marB="64239" anchor="ctr"/>
                </a:tc>
                <a:extLst>
                  <a:ext uri="{0D108BD9-81ED-4DB2-BD59-A6C34878D82A}">
                    <a16:rowId xmlns:a16="http://schemas.microsoft.com/office/drawing/2014/main" val="3707066796"/>
                  </a:ext>
                </a:extLst>
              </a:tr>
              <a:tr h="1721615">
                <a:tc>
                  <a:txBody>
                    <a:bodyPr/>
                    <a:lstStyle/>
                    <a:p>
                      <a:r>
                        <a:rPr lang="de-CH" sz="2500"/>
                        <a:t>Fehlgeschlagene Verschlüsselungsprozesse</a:t>
                      </a:r>
                      <a:endParaRPr lang="de-DE" sz="2500"/>
                    </a:p>
                  </a:txBody>
                  <a:tcPr marL="128479" marR="128479" marT="64239" marB="64239" anchor="ctr"/>
                </a:tc>
                <a:tc>
                  <a:txBody>
                    <a:bodyPr/>
                    <a:lstStyle/>
                    <a:p>
                      <a:r>
                        <a:rPr lang="de-CH" sz="2500"/>
                        <a:t>Hoch</a:t>
                      </a:r>
                      <a:endParaRPr lang="de-DE" sz="2500"/>
                    </a:p>
                  </a:txBody>
                  <a:tcPr marL="128479" marR="128479" marT="64239" marB="64239" anchor="ctr"/>
                </a:tc>
                <a:tc>
                  <a:txBody>
                    <a:bodyPr/>
                    <a:lstStyle/>
                    <a:p>
                      <a:r>
                        <a:rPr lang="de-CH" sz="2500" dirty="0"/>
                        <a:t>Automatisierte </a:t>
                      </a:r>
                      <a:r>
                        <a:rPr lang="de-CH" sz="2500" b="1" dirty="0"/>
                        <a:t>Integritätsprüfung</a:t>
                      </a:r>
                      <a:r>
                        <a:rPr lang="de-CH" sz="2500" dirty="0"/>
                        <a:t> der Backup-Files nach jedem Schreibvorgang.</a:t>
                      </a:r>
                      <a:endParaRPr lang="de-DE" sz="2500" dirty="0"/>
                    </a:p>
                  </a:txBody>
                  <a:tcPr marL="128479" marR="128479" marT="64239" marB="64239" anchor="ctr"/>
                </a:tc>
                <a:extLst>
                  <a:ext uri="{0D108BD9-81ED-4DB2-BD59-A6C34878D82A}">
                    <a16:rowId xmlns:a16="http://schemas.microsoft.com/office/drawing/2014/main" val="973627746"/>
                  </a:ext>
                </a:extLst>
              </a:tr>
            </a:tbl>
          </a:graphicData>
        </a:graphic>
      </p:graphicFrame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2CB047C-8B32-0315-DFAD-2B373BAED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C677-433C-43AD-B8C4-1A869F02A8FD}" type="datetime1">
              <a:rPr lang="de-DE" smtClean="0"/>
              <a:t>14.04.26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D4E8A50-667D-F362-B83F-F16BFB022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F7FDC-8310-F140-A008-FB332D87675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3019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EE0412E-9A7D-C3D3-5040-19C68E325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58" y="348865"/>
            <a:ext cx="10727363" cy="877729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Menschlich</a:t>
            </a:r>
          </a:p>
        </p:txBody>
      </p:sp>
      <p:graphicFrame>
        <p:nvGraphicFramePr>
          <p:cNvPr id="14" name="Inhaltsplatzhalter 3">
            <a:extLst>
              <a:ext uri="{FF2B5EF4-FFF2-40B4-BE49-F238E27FC236}">
                <a16:creationId xmlns:a16="http://schemas.microsoft.com/office/drawing/2014/main" id="{BB21C560-9A5F-1175-4FF8-C17E9FEC14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6244861"/>
              </p:ext>
            </p:extLst>
          </p:nvPr>
        </p:nvGraphicFramePr>
        <p:xfrm>
          <a:off x="688258" y="2112579"/>
          <a:ext cx="10875092" cy="4192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1012">
                  <a:extLst>
                    <a:ext uri="{9D8B030D-6E8A-4147-A177-3AD203B41FA5}">
                      <a16:colId xmlns:a16="http://schemas.microsoft.com/office/drawing/2014/main" val="481963213"/>
                    </a:ext>
                  </a:extLst>
                </a:gridCol>
                <a:gridCol w="1888434">
                  <a:extLst>
                    <a:ext uri="{9D8B030D-6E8A-4147-A177-3AD203B41FA5}">
                      <a16:colId xmlns:a16="http://schemas.microsoft.com/office/drawing/2014/main" val="2757534726"/>
                    </a:ext>
                  </a:extLst>
                </a:gridCol>
                <a:gridCol w="5745646">
                  <a:extLst>
                    <a:ext uri="{9D8B030D-6E8A-4147-A177-3AD203B41FA5}">
                      <a16:colId xmlns:a16="http://schemas.microsoft.com/office/drawing/2014/main" val="2382715635"/>
                    </a:ext>
                  </a:extLst>
                </a:gridCol>
              </a:tblGrid>
              <a:tr h="994448">
                <a:tc>
                  <a:txBody>
                    <a:bodyPr/>
                    <a:lstStyle/>
                    <a:p>
                      <a:r>
                        <a:rPr lang="de-CH" sz="2500"/>
                        <a:t>Identifizierte Risiken</a:t>
                      </a:r>
                      <a:endParaRPr lang="de-DE" sz="2500"/>
                    </a:p>
                  </a:txBody>
                  <a:tcPr marL="134385" marR="134385" marT="67192" marB="67192" anchor="ctr"/>
                </a:tc>
                <a:tc>
                  <a:txBody>
                    <a:bodyPr/>
                    <a:lstStyle/>
                    <a:p>
                      <a:r>
                        <a:rPr lang="de-CH" sz="2500"/>
                        <a:t>Relevanz</a:t>
                      </a:r>
                      <a:endParaRPr lang="de-DE" sz="2500"/>
                    </a:p>
                  </a:txBody>
                  <a:tcPr marL="134385" marR="134385" marT="67192" marB="67192" anchor="ctr"/>
                </a:tc>
                <a:tc>
                  <a:txBody>
                    <a:bodyPr/>
                    <a:lstStyle/>
                    <a:p>
                      <a:r>
                        <a:rPr lang="de-CH" sz="2500"/>
                        <a:t>Präventionsmassnahmen</a:t>
                      </a:r>
                      <a:endParaRPr lang="de-DE" sz="2500"/>
                    </a:p>
                  </a:txBody>
                  <a:tcPr marL="134385" marR="134385" marT="67192" marB="67192" anchor="ctr"/>
                </a:tc>
                <a:extLst>
                  <a:ext uri="{0D108BD9-81ED-4DB2-BD59-A6C34878D82A}">
                    <a16:rowId xmlns:a16="http://schemas.microsoft.com/office/drawing/2014/main" val="898575004"/>
                  </a:ext>
                </a:extLst>
              </a:tr>
              <a:tr h="1397602">
                <a:tc>
                  <a:txBody>
                    <a:bodyPr/>
                    <a:lstStyle/>
                    <a:p>
                      <a:r>
                        <a:rPr lang="de-CH" sz="2500"/>
                        <a:t>Fehlkonfiguration durch Administratoren</a:t>
                      </a:r>
                      <a:endParaRPr lang="de-DE" sz="2500"/>
                    </a:p>
                  </a:txBody>
                  <a:tcPr marL="134385" marR="134385" marT="67192" marB="67192" anchor="ctr"/>
                </a:tc>
                <a:tc>
                  <a:txBody>
                    <a:bodyPr/>
                    <a:lstStyle/>
                    <a:p>
                      <a:r>
                        <a:rPr lang="de-DE" sz="2500"/>
                        <a:t>Hoch</a:t>
                      </a:r>
                    </a:p>
                  </a:txBody>
                  <a:tcPr marL="134385" marR="134385" marT="67192" marB="67192" anchor="ctr"/>
                </a:tc>
                <a:tc>
                  <a:txBody>
                    <a:bodyPr/>
                    <a:lstStyle/>
                    <a:p>
                      <a:r>
                        <a:rPr lang="de-CH" sz="2500"/>
                        <a:t>Regelmässige </a:t>
                      </a:r>
                      <a:r>
                        <a:rPr lang="de-CH" sz="2500" b="1"/>
                        <a:t>Security-Awareness-Schulungen</a:t>
                      </a:r>
                      <a:r>
                        <a:rPr lang="de-CH" sz="2500"/>
                        <a:t> für das IT-Team.</a:t>
                      </a:r>
                      <a:endParaRPr lang="de-DE" sz="2500"/>
                    </a:p>
                  </a:txBody>
                  <a:tcPr marL="134385" marR="134385" marT="67192" marB="67192" anchor="ctr"/>
                </a:tc>
                <a:extLst>
                  <a:ext uri="{0D108BD9-81ED-4DB2-BD59-A6C34878D82A}">
                    <a16:rowId xmlns:a16="http://schemas.microsoft.com/office/drawing/2014/main" val="3707066796"/>
                  </a:ext>
                </a:extLst>
              </a:tr>
              <a:tr h="1800756">
                <a:tc>
                  <a:txBody>
                    <a:bodyPr/>
                    <a:lstStyle/>
                    <a:p>
                      <a:r>
                        <a:rPr lang="de-CH" sz="2500"/>
                        <a:t>Versehentliches Löschen von Archivdaten</a:t>
                      </a:r>
                      <a:endParaRPr lang="de-DE" sz="2500"/>
                    </a:p>
                  </a:txBody>
                  <a:tcPr marL="134385" marR="134385" marT="67192" marB="67192" anchor="ctr"/>
                </a:tc>
                <a:tc>
                  <a:txBody>
                    <a:bodyPr/>
                    <a:lstStyle/>
                    <a:p>
                      <a:r>
                        <a:rPr lang="de-CH" sz="2500"/>
                        <a:t>Mittel bis Hoch</a:t>
                      </a:r>
                      <a:endParaRPr lang="de-DE" sz="2500"/>
                    </a:p>
                  </a:txBody>
                  <a:tcPr marL="134385" marR="134385" marT="67192" marB="67192" anchor="ctr"/>
                </a:tc>
                <a:tc>
                  <a:txBody>
                    <a:bodyPr/>
                    <a:lstStyle/>
                    <a:p>
                      <a:r>
                        <a:rPr lang="de-CH" sz="2500"/>
                        <a:t>Implementierung des </a:t>
                      </a:r>
                      <a:r>
                        <a:rPr lang="de-CH" sz="2500" b="1"/>
                        <a:t>Vier-Augen-Prinzips</a:t>
                      </a:r>
                      <a:r>
                        <a:rPr lang="de-CH" sz="2500"/>
                        <a:t> bei kritischen Löschvorgängen oder Systemänderungen.</a:t>
                      </a:r>
                      <a:endParaRPr lang="de-DE" sz="2500"/>
                    </a:p>
                  </a:txBody>
                  <a:tcPr marL="134385" marR="134385" marT="67192" marB="67192" anchor="ctr"/>
                </a:tc>
                <a:extLst>
                  <a:ext uri="{0D108BD9-81ED-4DB2-BD59-A6C34878D82A}">
                    <a16:rowId xmlns:a16="http://schemas.microsoft.com/office/drawing/2014/main" val="973627746"/>
                  </a:ext>
                </a:extLst>
              </a:tr>
            </a:tbl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8A2390E-101D-2ED5-FD53-EA8C9DD79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37B07-E1D1-42A8-BB0A-30A6F500E361}" type="datetime1">
              <a:rPr lang="de-DE" smtClean="0"/>
              <a:t>14.04.26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AEF539-63F2-8967-59BC-A76EAB5D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F7FDC-8310-F140-A008-FB332D876752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7838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7EFC1-449F-259E-7F89-B16494C87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10">
            <a:extLst>
              <a:ext uri="{FF2B5EF4-FFF2-40B4-BE49-F238E27FC236}">
                <a16:creationId xmlns:a16="http://schemas.microsoft.com/office/drawing/2014/main" id="{A316DAB8-D9D7-041E-88A1-5DB37B110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465D7C0A-C528-7F69-6B74-A5F302ECF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DE70D6FD-2745-12B9-8FC6-AF77FAC10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6">
            <a:extLst>
              <a:ext uri="{FF2B5EF4-FFF2-40B4-BE49-F238E27FC236}">
                <a16:creationId xmlns:a16="http://schemas.microsoft.com/office/drawing/2014/main" id="{A01AE7FE-0374-041F-E999-47B0CF5B4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A4A9F9B-CE8A-63C5-F6A1-F10C8938C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58" y="348865"/>
            <a:ext cx="10727363" cy="877729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chemeClr val="bg1"/>
                </a:solidFill>
              </a:rPr>
              <a:t>Organisatorisch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77B09B-0470-B279-194E-59DDA514B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37B07-E1D1-42A8-BB0A-30A6F500E361}" type="datetime1">
              <a:rPr lang="de-DE" smtClean="0"/>
              <a:t>14.04.26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836FFC-F336-B79B-9AB9-829135E0D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F7FDC-8310-F140-A008-FB332D876752}" type="slidenum">
              <a:rPr lang="de-DE" smtClean="0"/>
              <a:t>4</a:t>
            </a:fld>
            <a:endParaRPr lang="de-DE"/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465AAAFD-8F40-4690-981B-1278DC1D9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377430"/>
              </p:ext>
            </p:extLst>
          </p:nvPr>
        </p:nvGraphicFramePr>
        <p:xfrm>
          <a:off x="838201" y="1992581"/>
          <a:ext cx="10515599" cy="3946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6650">
                  <a:extLst>
                    <a:ext uri="{9D8B030D-6E8A-4147-A177-3AD203B41FA5}">
                      <a16:colId xmlns:a16="http://schemas.microsoft.com/office/drawing/2014/main" val="1934139848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314596014"/>
                    </a:ext>
                  </a:extLst>
                </a:gridCol>
                <a:gridCol w="4314824">
                  <a:extLst>
                    <a:ext uri="{9D8B030D-6E8A-4147-A177-3AD203B41FA5}">
                      <a16:colId xmlns:a16="http://schemas.microsoft.com/office/drawing/2014/main" val="3056947361"/>
                    </a:ext>
                  </a:extLst>
                </a:gridCol>
              </a:tblGrid>
              <a:tr h="7157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Identifizierte Risiken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Relevanz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Präventionsmassnahmen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9419764"/>
                  </a:ext>
                </a:extLst>
              </a:tr>
              <a:tr h="1988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Fehlende Wiederherstellungstests (Restores)</a:t>
                      </a:r>
                    </a:p>
                    <a:p>
                      <a:pPr>
                        <a:buNone/>
                      </a:pPr>
                      <a:endParaRPr lang="en-US" sz="2500"/>
                    </a:p>
                    <a:p>
                      <a:pPr>
                        <a:buNone/>
                      </a:pPr>
                      <a:endParaRPr lang="en-US" sz="2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5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Hoch</a:t>
                      </a:r>
                      <a:endParaRPr lang="en-US" sz="2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Erstellung und quartalsweise Durchführung eines </a:t>
                      </a:r>
                      <a:br>
                        <a:rPr lang="en-US" sz="2500"/>
                      </a:br>
                      <a:r>
                        <a:rPr lang="en-US" sz="2500"/>
                        <a:t>Disaster-Recovery-Tests.</a:t>
                      </a:r>
                    </a:p>
                    <a:p>
                      <a:pPr>
                        <a:buNone/>
                      </a:pPr>
                      <a:endParaRPr lang="en-US" sz="2500"/>
                    </a:p>
                    <a:p>
                      <a:pPr>
                        <a:buNone/>
                      </a:pPr>
                      <a:endParaRPr lang="en-US" sz="2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7072776"/>
                  </a:ext>
                </a:extLst>
              </a:tr>
              <a:tr h="116235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5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Unklare Verantwortlichkeiten bei Störungen</a:t>
                      </a:r>
                      <a:endParaRPr lang="en-US" sz="250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5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Mittel</a:t>
                      </a:r>
                      <a:endParaRPr lang="en-US" sz="2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5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Definition einer klaren RACI-Matrix für den Backup-Prozess.</a:t>
                      </a:r>
                      <a:endParaRPr lang="en-US" sz="2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757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7435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845E2F-AA8C-9D6D-4557-872A18BDB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10">
            <a:extLst>
              <a:ext uri="{FF2B5EF4-FFF2-40B4-BE49-F238E27FC236}">
                <a16:creationId xmlns:a16="http://schemas.microsoft.com/office/drawing/2014/main" id="{3D973A53-CBCD-6FC8-656D-3D8C1B1C1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1820A371-D79D-B73F-F51D-63EC2AD20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FBC27B14-A5D6-6C18-A490-525862FA7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6">
            <a:extLst>
              <a:ext uri="{FF2B5EF4-FFF2-40B4-BE49-F238E27FC236}">
                <a16:creationId xmlns:a16="http://schemas.microsoft.com/office/drawing/2014/main" id="{F24F9698-2DFD-C2AE-AFA6-AF20F76E6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ECF36C5-5C08-0A16-BF86-67D8DBC3D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58" y="348865"/>
            <a:ext cx="10727363" cy="877729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chemeClr val="bg1"/>
                </a:solidFill>
              </a:rPr>
              <a:t>Extern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75DD41-BAF6-B8B0-862E-52E4A2F4B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37B07-E1D1-42A8-BB0A-30A6F500E361}" type="datetime1">
              <a:rPr lang="de-DE" smtClean="0"/>
              <a:t>14.04.26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38B0C35-A82B-9EB9-EB7F-C54C86B3F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F7FDC-8310-F140-A008-FB332D876752}" type="slidenum">
              <a:rPr lang="de-DE" smtClean="0"/>
              <a:t>5</a:t>
            </a:fld>
            <a:endParaRPr lang="de-DE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2FB2B6CB-26E9-0AA8-8D0F-1CF97D122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/>
          </a:p>
        </p:txBody>
      </p:sp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F3EB7DF0-4FB3-D88C-807F-A1EE6FA2F7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749126"/>
              </p:ext>
            </p:extLst>
          </p:nvPr>
        </p:nvGraphicFramePr>
        <p:xfrm>
          <a:off x="838200" y="1825625"/>
          <a:ext cx="10515600" cy="4240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63966714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474607747"/>
                    </a:ext>
                  </a:extLst>
                </a:gridCol>
                <a:gridCol w="4152900">
                  <a:extLst>
                    <a:ext uri="{9D8B030D-6E8A-4147-A177-3AD203B41FA5}">
                      <a16:colId xmlns:a16="http://schemas.microsoft.com/office/drawing/2014/main" val="681885914"/>
                    </a:ext>
                  </a:extLst>
                </a:gridCol>
              </a:tblGrid>
              <a:tr h="64872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de-CH" sz="2400" b="1" i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Identifizierte Risiken</a:t>
                      </a:r>
                      <a:endParaRPr lang="de-CH" sz="24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4582" marR="84582" marT="42291" marB="42291" anchor="ctr">
                    <a:lnL w="117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7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24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de-CH" sz="2400" b="1" i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Relevanz</a:t>
                      </a:r>
                      <a:endParaRPr lang="de-CH" sz="24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4582" marR="84582" marT="42291" marB="42291" anchor="ctr">
                    <a:lnL w="117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7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24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de-CH" sz="2400" b="1" i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Präventionsmassnahmen</a:t>
                      </a:r>
                      <a:endParaRPr lang="de-CH" sz="24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4582" marR="84582" marT="42291" marB="42291" anchor="ctr">
                    <a:lnL w="117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7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24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2951878"/>
                  </a:ext>
                </a:extLst>
              </a:tr>
              <a:tr h="148281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de-CH" sz="24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Ransomware- /Malware-Angriffe</a:t>
                      </a:r>
                    </a:p>
                  </a:txBody>
                  <a:tcPr marL="84582" marR="84582" marT="42291" marB="42291" anchor="ctr">
                    <a:lnL w="117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7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24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7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de-CH" sz="24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Hoch</a:t>
                      </a:r>
                      <a:endParaRPr lang="de-CH" sz="2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4582" marR="84582" marT="42291" marB="42291" anchor="ctr">
                    <a:lnL w="117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7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24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7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de-CH" sz="24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Air-Gap-Sicherung und 3-2-1 Prinzip anwenden.</a:t>
                      </a:r>
                    </a:p>
                  </a:txBody>
                  <a:tcPr marL="84582" marR="84582" marT="42291" marB="42291" anchor="ctr">
                    <a:lnL w="117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7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24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7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7880375"/>
                  </a:ext>
                </a:extLst>
              </a:tr>
              <a:tr h="92675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de-CH" sz="24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Stromausfall / Naturkatastrophe</a:t>
                      </a:r>
                    </a:p>
                  </a:txBody>
                  <a:tcPr marL="84582" marR="84582" marT="42291" marB="42291" anchor="ctr">
                    <a:lnL w="117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7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7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de-CH" sz="24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Hoch</a:t>
                      </a:r>
                      <a:endParaRPr lang="de-CH" sz="2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4582" marR="84582" marT="42291" marB="42291" anchor="ctr">
                    <a:lnL w="117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7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7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de-CH" sz="2400" noProof="0">
                          <a:effectLst/>
                        </a:rPr>
                        <a:t>Geografische Redundanz sicherstellen.</a:t>
                      </a:r>
                    </a:p>
                  </a:txBody>
                  <a:tcPr marL="84582" marR="84582" marT="42291" marB="42291" anchor="ctr">
                    <a:lnL w="117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7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74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7388412"/>
                  </a:ext>
                </a:extLst>
              </a:tr>
              <a:tr h="926754">
                <a:tc>
                  <a:txBody>
                    <a:bodyPr/>
                    <a:lstStyle/>
                    <a:p>
                      <a:pPr lvl="0" algn="l">
                        <a:lnSpc>
                          <a:spcPts val="2025"/>
                        </a:lnSpc>
                        <a:buNone/>
                      </a:pPr>
                      <a:r>
                        <a:rPr lang="de-CH" sz="24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Provider Ausfall (z.B. Cloud Backup Dienste)</a:t>
                      </a:r>
                    </a:p>
                  </a:txBody>
                  <a:tcPr marL="84582" marR="84582" marT="42291" marB="42291" anchor="ctr">
                    <a:lnL w="11744">
                      <a:solidFill>
                        <a:srgbClr val="FFFFFF"/>
                      </a:solidFill>
                    </a:lnL>
                    <a:lnR w="11744">
                      <a:solidFill>
                        <a:srgbClr val="FFFFFF"/>
                      </a:solidFill>
                    </a:lnR>
                    <a:lnT w="11744">
                      <a:solidFill>
                        <a:srgbClr val="FFFFFF"/>
                      </a:solidFill>
                    </a:lnT>
                    <a:lnB w="11744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2025"/>
                        </a:lnSpc>
                        <a:buNone/>
                      </a:pPr>
                      <a:r>
                        <a:rPr lang="de-CH" sz="24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Mittel</a:t>
                      </a:r>
                    </a:p>
                  </a:txBody>
                  <a:tcPr marL="84582" marR="84582" marT="42291" marB="42291" anchor="ctr">
                    <a:lnL w="11744">
                      <a:solidFill>
                        <a:srgbClr val="FFFFFF"/>
                      </a:solidFill>
                    </a:lnL>
                    <a:lnR w="11744">
                      <a:solidFill>
                        <a:srgbClr val="FFFFFF"/>
                      </a:solidFill>
                    </a:lnR>
                    <a:lnT w="11744">
                      <a:solidFill>
                        <a:srgbClr val="FFFFFF"/>
                      </a:solidFill>
                    </a:lnT>
                    <a:lnB w="11744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CH" sz="2400" noProof="0">
                          <a:effectLst/>
                        </a:rPr>
                        <a:t>SLAs mit Provider prüfen, Multi-Provider-Strategie erwägen.</a:t>
                      </a:r>
                    </a:p>
                  </a:txBody>
                  <a:tcPr marL="84582" marR="84582" marT="42291" marB="42291" anchor="ctr">
                    <a:lnL w="11744">
                      <a:solidFill>
                        <a:srgbClr val="FFFFFF"/>
                      </a:solidFill>
                    </a:lnL>
                    <a:lnR w="11744">
                      <a:solidFill>
                        <a:srgbClr val="FFFFFF"/>
                      </a:solidFill>
                    </a:lnR>
                    <a:lnT w="11744">
                      <a:solidFill>
                        <a:srgbClr val="FFFFFF"/>
                      </a:solidFill>
                    </a:lnT>
                    <a:lnB w="11744">
                      <a:solidFill>
                        <a:srgbClr val="FFFFF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3793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7096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6E3652E1573844CB4FCB752CBF0823E" ma:contentTypeVersion="3" ma:contentTypeDescription="Ein neues Dokument erstellen." ma:contentTypeScope="" ma:versionID="ffe26a30e717f9ac89f7503a5ce829b9">
  <xsd:schema xmlns:xsd="http://www.w3.org/2001/XMLSchema" xmlns:xs="http://www.w3.org/2001/XMLSchema" xmlns:p="http://schemas.microsoft.com/office/2006/metadata/properties" xmlns:ns2="1b9ad53d-3cfc-427d-b0ff-55a3ef62b324" targetNamespace="http://schemas.microsoft.com/office/2006/metadata/properties" ma:root="true" ma:fieldsID="be0590efa2c9332663a3da8c8ee77244" ns2:_="">
    <xsd:import namespace="1b9ad53d-3cfc-427d-b0ff-55a3ef62b3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9ad53d-3cfc-427d-b0ff-55a3ef62b3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F5D7055-ED8D-457C-AF40-86018B82555F}"/>
</file>

<file path=customXml/itemProps2.xml><?xml version="1.0" encoding="utf-8"?>
<ds:datastoreItem xmlns:ds="http://schemas.openxmlformats.org/officeDocument/2006/customXml" ds:itemID="{B2A93083-4BA5-476B-9D5D-FAAF80D02182}"/>
</file>

<file path=customXml/itemProps3.xml><?xml version="1.0" encoding="utf-8"?>
<ds:datastoreItem xmlns:ds="http://schemas.openxmlformats.org/officeDocument/2006/customXml" ds:itemID="{C9ABA2B0-CC27-4537-8938-D86D4B619348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</Words>
  <Application>Microsoft Macintosh PowerPoint</Application>
  <PresentationFormat>Breitbild</PresentationFormat>
  <Paragraphs>54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Risiken der Datensicherung und Archivierung</vt:lpstr>
      <vt:lpstr>Technisch</vt:lpstr>
      <vt:lpstr>Menschlich</vt:lpstr>
      <vt:lpstr>Organisatorisch</vt:lpstr>
      <vt:lpstr>Extern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Sandro Lopes</dc:creator>
  <cp:lastModifiedBy>Sandro Lopes</cp:lastModifiedBy>
  <cp:revision>2</cp:revision>
  <dcterms:created xsi:type="dcterms:W3CDTF">2026-04-14T17:15:14Z</dcterms:created>
  <dcterms:modified xsi:type="dcterms:W3CDTF">2026-04-14T17:31:05Z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0x01010016E3652E1573844CB4FCB752CBF0823E</vt:lpwstr>
  </property>
</Properties>
</file>