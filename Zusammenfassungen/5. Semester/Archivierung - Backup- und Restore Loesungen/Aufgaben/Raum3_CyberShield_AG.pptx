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1F3AA5-7074-804C-A19D-BB3FE83BB41F}" v="634" dt="2026-04-17T12:31:50.784"/>
    <p1510:client id="{4004E147-2787-460F-A9D3-57C929B15C4E}" v="110" dt="2026-04-17T12:29:51.794"/>
    <p1510:client id="{44C3D5D4-14DC-43CD-9FA8-7FDB6708DE4E}" v="2" dt="2026-04-17T12:25:57.503"/>
    <p1510:client id="{861F418C-8EAC-442D-BCF3-90DFF4CD1876}" v="24" dt="2026-04-17T12:29:05.302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5"/>
    <p:restoredTop sz="94710"/>
  </p:normalViewPr>
  <p:slideViewPr>
    <p:cSldViewPr snapToGrid="0">
      <p:cViewPr varScale="1">
        <p:scale>
          <a:sx n="128" d="100"/>
          <a:sy n="128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5A9E6C-5A5C-1F8B-E422-5B54B4374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5C24EC0-D19B-AE54-EE7C-4010D2774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F3F182-8C19-048B-ADCA-05600C1DC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E458-42F3-B64E-942A-FB45DBCD751F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F31A18-0ECD-1555-D889-2AD04612B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BD1F9B-3F6C-564A-7AE7-9856CBDE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AEE5-50B7-334C-8280-86FA649D81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7353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DE51A7-EC48-5D9D-9DAB-B7A66941C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E5E2AC-3E54-FCF2-0C55-4F06955C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62D1E9-E94E-F47F-51D5-26DAF931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E458-42F3-B64E-942A-FB45DBCD751F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AE6685-44B2-7198-4C41-45278BC80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8DFAC0-9634-68FD-18CA-D19D97A8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AEE5-50B7-334C-8280-86FA649D81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942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453843-E236-45BC-8B1E-2EFA654F4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7A02C3-85E5-BB66-C010-A9159D31C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193DBF-9229-BE92-A669-738018A37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E458-42F3-B64E-942A-FB45DBCD751F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094FDB-DC37-0326-9912-9CB086A94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1CDAC7-7078-21EE-BF83-21F117AB8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AEE5-50B7-334C-8280-86FA649D81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706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D942FE-8348-B134-A716-BAB0D5D0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91D0B6-0265-9ADF-C38D-28FC5B636A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14382F5-F35B-123A-0039-15F6925A6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73BE25-E415-61F4-211B-B2614A149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E458-42F3-B64E-942A-FB45DBCD751F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4A8F181-96C2-207A-F9A0-884BAF9F3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1B4AE6-C17E-8DDF-CDC1-CFB367AA3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AEE5-50B7-334C-8280-86FA649D81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6805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6B918D-AEEA-211C-264A-44B1A05A8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5CC207-545A-B1EE-7F25-7BD91C10A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B68CE71-62B2-790F-F9F3-9B49FB2DB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918755A-FA88-F9F5-EC9B-5A480EC4A9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52F8668-0E3A-FCFD-2638-425285665D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7C161B6-07D0-BA70-0098-EB0098400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E458-42F3-B64E-942A-FB45DBCD751F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FAC610F-ED24-7C66-D6EE-4AB78E6A7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D72AA07-364A-1149-BF8D-12078DF18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AEE5-50B7-334C-8280-86FA649D81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708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8DC59-B616-7D51-597E-0CBF35B14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283F9AE-82E4-866A-033D-82B987645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E458-42F3-B64E-942A-FB45DBCD751F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D502CF-6B53-3F2C-BBBF-0028C8A43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44AAB6-EB33-12B5-6F86-E8C11566F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AEE5-50B7-334C-8280-86FA649D81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5921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5468AD7-A481-8730-6921-4296196D1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E458-42F3-B64E-942A-FB45DBCD751F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4130D69-741A-4C30-125E-EF0DF9E8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129529-C7A4-A904-AFDE-E2C13263D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AEE5-50B7-334C-8280-86FA649D81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4557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449EEC-CA33-1844-FC5A-7B096A337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ADBC16-00F3-A694-6195-1B9259F75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D793206-2B1D-5075-8225-E1B3288D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C1FFF7-3F03-C0B3-749D-82D1020A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E458-42F3-B64E-942A-FB45DBCD751F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C1216F-0433-BF1A-FB0A-BC18D8E21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AA285F-99DE-064F-B29F-0152170D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AEE5-50B7-334C-8280-86FA649D81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416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DEB67D-6545-8B35-1625-E906A17C4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B8586BD-4330-C807-1949-346B639F2A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FD4E006-BA1E-A941-7E6E-4760BAFE8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EE39E5E-70F5-FBB1-D971-A975F1E56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E458-42F3-B64E-942A-FB45DBCD751F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5B663F-5A68-F8F7-1F49-D204F5D22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6ED132F-F113-AA87-C691-16DE75719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AEE5-50B7-334C-8280-86FA649D81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0027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70B43-D9A2-DD19-34D0-44337F14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3647C9B-D6F9-19E6-BC40-08AB4B63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9FF61F-8824-15C6-7B41-F4A0AD12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E458-42F3-B64E-942A-FB45DBCD751F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779D85-64E9-8232-657F-14031BAD8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560EFC-A8A7-4A8F-97F7-151318076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AEE5-50B7-334C-8280-86FA649D81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76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3EA46D9-BAB3-2823-7DDD-227A43B4DD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10A0CEA-9725-A73B-0FDD-1D475DE31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C8111B7-97D5-2E79-C751-9D48BDBC7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E458-42F3-B64E-942A-FB45DBCD751F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90F549-1184-6911-91AF-AEE540A78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587BE4-41A6-370E-8FDC-1D7649251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2AEE5-50B7-334C-8280-86FA649D81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3120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D3E4B1F-6F1E-EA49-993E-D1DBF87A8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11DBD5-3260-2122-70C5-732464578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69233B-DEFF-71FD-5204-2D06FACF81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5E458-42F3-B64E-942A-FB45DBCD751F}" type="datetimeFigureOut">
              <a:rPr lang="de-DE" smtClean="0"/>
              <a:t>17.04.26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5A46FA-3F39-6C5A-FA8D-460204419F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1BD8D3-FDE3-8FF4-50D2-DC1D3A184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2AEE5-50B7-334C-8280-86FA649D814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3330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3CF63C9-3D9F-EF97-F471-DD935C233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de-CH" sz="4800">
                <a:solidFill>
                  <a:srgbClr val="FFFFFF"/>
                </a:solidFill>
              </a:rPr>
              <a:t>Optimierung der Ransomware-Erkennung für unsere KMU-Kunden</a:t>
            </a:r>
            <a:endParaRPr lang="de-DE" sz="48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9326A23-5075-CA81-D7E1-111C6B120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de-CH">
                <a:solidFill>
                  <a:srgbClr val="FFFFFF"/>
                </a:solidFill>
              </a:rPr>
              <a:t>Analyse der Vorfälle und neues mehrstufiges Schutzkonzept</a:t>
            </a:r>
            <a:endParaRPr lang="de-DE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0517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8D0BDFA-917A-799B-05CD-144C7B0AB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CH" sz="3100" b="1">
                <a:solidFill>
                  <a:srgbClr val="FFFFFF"/>
                </a:solidFill>
              </a:rPr>
              <a:t>Schwachstellenanalyse – Warum die AV versagte</a:t>
            </a:r>
            <a:br>
              <a:rPr lang="de-CH" sz="3100" b="1">
                <a:solidFill>
                  <a:srgbClr val="FFFFFF"/>
                </a:solidFill>
              </a:rPr>
            </a:br>
            <a:endParaRPr lang="de-DE" sz="3100" b="1">
              <a:solidFill>
                <a:srgbClr val="FFFFFF"/>
              </a:solidFill>
            </a:endParaRP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FBDF76C-2821-40EB-BC22-FCC21A34E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de-DE" sz="2000" b="1"/>
              <a:t>Das Problem: </a:t>
            </a:r>
            <a:r>
              <a:rPr lang="de-DE" sz="2000"/>
              <a:t>Klassische Antivirensoftware ist rein reaktiv</a:t>
            </a:r>
          </a:p>
          <a:p>
            <a:r>
              <a:rPr lang="de-DE" sz="2000" b="1"/>
              <a:t>Gründe für das Versagen:</a:t>
            </a:r>
          </a:p>
          <a:p>
            <a:pPr lvl="1"/>
            <a:r>
              <a:rPr lang="de-DE" sz="2000" b="1"/>
              <a:t>Signatur-Lücke: </a:t>
            </a:r>
            <a:r>
              <a:rPr lang="de-DE" sz="2000"/>
              <a:t>Neue Ransomware-Varianten (Zero-Day) haben noch keine bekannte Signatur.</a:t>
            </a:r>
          </a:p>
          <a:p>
            <a:pPr lvl="1"/>
            <a:r>
              <a:rPr lang="de-DE" sz="2000" b="1"/>
              <a:t>Polymorphie: </a:t>
            </a:r>
            <a:r>
              <a:rPr lang="de-DE" sz="2000"/>
              <a:t>Die Schadensoftware tarnt sich durch ständiges Verändern des Codes.</a:t>
            </a:r>
          </a:p>
          <a:p>
            <a:pPr lvl="1"/>
            <a:r>
              <a:rPr lang="de-DE" sz="2000" b="1"/>
              <a:t>Fileless Attacks: </a:t>
            </a:r>
            <a:r>
              <a:rPr lang="de-DE" sz="2000"/>
              <a:t>Angriffe nutzen legitime Systemtools wie z.B. Powershell, die nicht von der AV blockiert werden.</a:t>
            </a:r>
            <a:endParaRPr lang="de-DE" sz="2000" b="1"/>
          </a:p>
          <a:p>
            <a:r>
              <a:rPr lang="de-DE" sz="2000" b="1"/>
              <a:t>Fazit: </a:t>
            </a:r>
            <a:r>
              <a:rPr lang="de-DE" sz="2000"/>
              <a:t>Der Schutz basiert auf „bekannte Feinde“, die Angreifer nutzten jedoch „unbekannte Methoden“</a:t>
            </a:r>
          </a:p>
        </p:txBody>
      </p:sp>
    </p:spTree>
    <p:extLst>
      <p:ext uri="{BB962C8B-B14F-4D97-AF65-F5344CB8AC3E}">
        <p14:creationId xmlns:p14="http://schemas.microsoft.com/office/powerpoint/2010/main" val="2706632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90BD232-AB6E-E412-B960-C11C6F92B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r>
              <a:rPr lang="de-DE" sz="3800" b="1">
                <a:solidFill>
                  <a:srgbClr val="FFFFFF"/>
                </a:solidFill>
              </a:rPr>
              <a:t>Bewertung</a:t>
            </a:r>
            <a:r>
              <a:rPr lang="de-DE" sz="3400" b="1">
                <a:solidFill>
                  <a:srgbClr val="FFFFFF"/>
                </a:solidFill>
              </a:rPr>
              <a:t> der Erkennungsmethoden</a:t>
            </a:r>
            <a:br>
              <a:rPr lang="de-DE" sz="2800" b="1">
                <a:solidFill>
                  <a:srgbClr val="FFFFFF"/>
                </a:solidFill>
              </a:rPr>
            </a:br>
            <a:endParaRPr lang="de-CH" sz="2800">
              <a:solidFill>
                <a:srgbClr val="FFFFFF"/>
              </a:solidFill>
            </a:endParaRP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A740242A-97A3-B53B-159F-94CB90174B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9062960"/>
              </p:ext>
            </p:extLst>
          </p:nvPr>
        </p:nvGraphicFramePr>
        <p:xfrm>
          <a:off x="1264457" y="2112579"/>
          <a:ext cx="9687028" cy="4192807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494004">
                  <a:extLst>
                    <a:ext uri="{9D8B030D-6E8A-4147-A177-3AD203B41FA5}">
                      <a16:colId xmlns:a16="http://schemas.microsoft.com/office/drawing/2014/main" val="3039723300"/>
                    </a:ext>
                  </a:extLst>
                </a:gridCol>
                <a:gridCol w="2598060">
                  <a:extLst>
                    <a:ext uri="{9D8B030D-6E8A-4147-A177-3AD203B41FA5}">
                      <a16:colId xmlns:a16="http://schemas.microsoft.com/office/drawing/2014/main" val="137904886"/>
                    </a:ext>
                  </a:extLst>
                </a:gridCol>
                <a:gridCol w="3594964">
                  <a:extLst>
                    <a:ext uri="{9D8B030D-6E8A-4147-A177-3AD203B41FA5}">
                      <a16:colId xmlns:a16="http://schemas.microsoft.com/office/drawing/2014/main" val="3104084932"/>
                    </a:ext>
                  </a:extLst>
                </a:gridCol>
              </a:tblGrid>
              <a:tr h="401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/>
                        <a:t>Methode</a:t>
                      </a:r>
                      <a:endParaRPr lang="de-CH" sz="1800"/>
                    </a:p>
                  </a:txBody>
                  <a:tcPr marL="91148" marR="91148" marT="45574" marB="455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/>
                        <a:t>Wirksamkeit</a:t>
                      </a:r>
                      <a:endParaRPr lang="de-CH" sz="1800"/>
                    </a:p>
                  </a:txBody>
                  <a:tcPr marL="91148" marR="91148" marT="45574" marB="455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/>
                        <a:t>Begründung</a:t>
                      </a:r>
                      <a:endParaRPr lang="de-CH" sz="1800"/>
                    </a:p>
                  </a:txBody>
                  <a:tcPr marL="91148" marR="91148" marT="45574" marB="45574" anchor="ctr"/>
                </a:tc>
                <a:extLst>
                  <a:ext uri="{0D108BD9-81ED-4DB2-BD59-A6C34878D82A}">
                    <a16:rowId xmlns:a16="http://schemas.microsoft.com/office/drawing/2014/main" val="2983887684"/>
                  </a:ext>
                </a:extLst>
              </a:tr>
              <a:tr h="674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/>
                        <a:t>Signaturbasiert</a:t>
                      </a:r>
                      <a:endParaRPr lang="de-CH" sz="1800"/>
                    </a:p>
                  </a:txBody>
                  <a:tcPr marL="91148" marR="91148" marT="45574" marB="455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/>
                        <a:t>Niedrig</a:t>
                      </a:r>
                      <a:endParaRPr lang="de-CH" sz="1800"/>
                    </a:p>
                  </a:txBody>
                  <a:tcPr marL="91148" marR="91148" marT="45574" marB="455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800"/>
                        <a:t>Erkennt nur, was bereits bekannt ist (Schwarzliste).</a:t>
                      </a:r>
                    </a:p>
                  </a:txBody>
                  <a:tcPr marL="91148" marR="91148" marT="45574" marB="45574" anchor="ctr"/>
                </a:tc>
                <a:extLst>
                  <a:ext uri="{0D108BD9-81ED-4DB2-BD59-A6C34878D82A}">
                    <a16:rowId xmlns:a16="http://schemas.microsoft.com/office/drawing/2014/main" val="3300484980"/>
                  </a:ext>
                </a:extLst>
              </a:tr>
              <a:tr h="947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/>
                        <a:t>IoC-Analyse</a:t>
                      </a:r>
                      <a:endParaRPr lang="de-CH" sz="1800"/>
                    </a:p>
                  </a:txBody>
                  <a:tcPr marL="91148" marR="91148" marT="45574" marB="455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/>
                        <a:t>Mittel</a:t>
                      </a:r>
                      <a:endParaRPr lang="de-CH" sz="1800"/>
                    </a:p>
                  </a:txBody>
                  <a:tcPr marL="91148" marR="91148" marT="45574" marB="455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800"/>
                        <a:t>Hilfreich nach dem ersten Befall, aber Angreifer wechseln IPs/Domains schnell.</a:t>
                      </a:r>
                    </a:p>
                  </a:txBody>
                  <a:tcPr marL="91148" marR="91148" marT="45574" marB="45574" anchor="ctr"/>
                </a:tc>
                <a:extLst>
                  <a:ext uri="{0D108BD9-81ED-4DB2-BD59-A6C34878D82A}">
                    <a16:rowId xmlns:a16="http://schemas.microsoft.com/office/drawing/2014/main" val="2331307457"/>
                  </a:ext>
                </a:extLst>
              </a:tr>
              <a:tr h="1221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/>
                        <a:t>Verhaltensanalyse</a:t>
                      </a:r>
                      <a:endParaRPr lang="de-CH" sz="1800"/>
                    </a:p>
                  </a:txBody>
                  <a:tcPr marL="91148" marR="91148" marT="45574" marB="455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/>
                        <a:t>Sehr Hoch</a:t>
                      </a:r>
                      <a:endParaRPr lang="de-CH" sz="1800"/>
                    </a:p>
                  </a:txBody>
                  <a:tcPr marL="91148" marR="91148" marT="45574" marB="455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800"/>
                        <a:t>Erkennt die Aktion (z. B. plötzliche Massenverschlüsselung), nicht die Datei.</a:t>
                      </a:r>
                    </a:p>
                  </a:txBody>
                  <a:tcPr marL="91148" marR="91148" marT="45574" marB="45574" anchor="ctr"/>
                </a:tc>
                <a:extLst>
                  <a:ext uri="{0D108BD9-81ED-4DB2-BD59-A6C34878D82A}">
                    <a16:rowId xmlns:a16="http://schemas.microsoft.com/office/drawing/2014/main" val="2977093506"/>
                  </a:ext>
                </a:extLst>
              </a:tr>
              <a:tr h="947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/>
                        <a:t>Netzwerkmonitoring</a:t>
                      </a:r>
                      <a:endParaRPr lang="de-CH" sz="1800"/>
                    </a:p>
                  </a:txBody>
                  <a:tcPr marL="91148" marR="91148" marT="45574" marB="455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CH" sz="1800" b="1"/>
                        <a:t>Hoch</a:t>
                      </a:r>
                      <a:endParaRPr lang="de-CH" sz="1800"/>
                    </a:p>
                  </a:txBody>
                  <a:tcPr marL="91148" marR="91148" marT="45574" marB="4557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800"/>
                        <a:t>Erkennt Datenabfluss (Exfiltration) und Ausbreitung im Netz (Lateral Movement).</a:t>
                      </a:r>
                    </a:p>
                  </a:txBody>
                  <a:tcPr marL="91148" marR="91148" marT="45574" marB="45574" anchor="ctr"/>
                </a:tc>
                <a:extLst>
                  <a:ext uri="{0D108BD9-81ED-4DB2-BD59-A6C34878D82A}">
                    <a16:rowId xmlns:a16="http://schemas.microsoft.com/office/drawing/2014/main" val="426982783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E5FC9DC-C499-E7DC-F349-D805AA5A4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59911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48EAFC-C1EF-519E-667D-52A19058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3400" b="1">
                <a:solidFill>
                  <a:srgbClr val="FFFFFF"/>
                </a:solidFill>
              </a:rPr>
              <a:t>Das neue mehrstufige Erkennungskonzept</a:t>
            </a:r>
            <a:br>
              <a:rPr lang="de-DE" sz="3400" b="1">
                <a:solidFill>
                  <a:srgbClr val="FFFFFF"/>
                </a:solidFill>
              </a:rPr>
            </a:br>
            <a:endParaRPr lang="de-CH" sz="3400">
              <a:solidFill>
                <a:srgbClr val="FFFF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CEE728-1B27-8BAF-B9B1-5D6815300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CH" sz="2000" i="1"/>
              <a:t>Unser 3-Ebenen-Schutz für die KMU-Basis</a:t>
            </a:r>
            <a:endParaRPr lang="de-CH" sz="2000"/>
          </a:p>
          <a:p>
            <a:r>
              <a:rPr lang="de-CH" sz="2000" b="1"/>
              <a:t>Ebene 1 (Endpunkt): EDR (</a:t>
            </a:r>
            <a:r>
              <a:rPr lang="de-CH" sz="2000" b="1" err="1"/>
              <a:t>Endpoint</a:t>
            </a:r>
            <a:r>
              <a:rPr lang="de-CH" sz="2000" b="1"/>
              <a:t> </a:t>
            </a:r>
            <a:r>
              <a:rPr lang="de-CH" sz="2000" b="1" err="1"/>
              <a:t>Detection</a:t>
            </a:r>
            <a:r>
              <a:rPr lang="de-CH" sz="2000" b="1"/>
              <a:t> &amp; Response)</a:t>
            </a:r>
            <a:endParaRPr lang="de-CH" sz="2000"/>
          </a:p>
          <a:p>
            <a:pPr lvl="1"/>
            <a:r>
              <a:rPr lang="de-CH" sz="2000"/>
              <a:t>Ersetzt klassische AV durch </a:t>
            </a:r>
            <a:r>
              <a:rPr lang="de-CH" sz="2000" b="1"/>
              <a:t>Verhaltensanalyse</a:t>
            </a:r>
            <a:r>
              <a:rPr lang="de-CH" sz="2000"/>
              <a:t>. Erkennt Ransomware an ihrem Verhalten, selbst wenn sie neu ist.</a:t>
            </a:r>
          </a:p>
          <a:p>
            <a:r>
              <a:rPr lang="de-CH" sz="2000" b="1"/>
              <a:t>Ebene 2 (Netzwerk): NDR &amp; Monitoring</a:t>
            </a:r>
            <a:endParaRPr lang="de-CH" sz="2000"/>
          </a:p>
          <a:p>
            <a:pPr lvl="1"/>
            <a:r>
              <a:rPr lang="de-CH" sz="2000"/>
              <a:t>Überwachung des Datenverkehrs auf Anomalien (z. B. Kommunikation mit Command-and-Control-Servern).</a:t>
            </a:r>
          </a:p>
          <a:p>
            <a:r>
              <a:rPr lang="de-CH" sz="2000" b="1"/>
              <a:t>Ebene 3 (Infrastruktur/Mensch): E-Mail-Security &amp; </a:t>
            </a:r>
            <a:r>
              <a:rPr lang="de-CH" sz="2000" b="1" err="1"/>
              <a:t>Logging</a:t>
            </a:r>
            <a:endParaRPr lang="de-CH" sz="2000"/>
          </a:p>
          <a:p>
            <a:pPr lvl="1"/>
            <a:r>
              <a:rPr lang="de-CH" sz="2000"/>
              <a:t>KI-basierte Analyse von Mail-Anhängen (</a:t>
            </a:r>
            <a:r>
              <a:rPr lang="de-CH" sz="2000" err="1"/>
              <a:t>Sandboxing</a:t>
            </a:r>
            <a:r>
              <a:rPr lang="de-CH" sz="2000"/>
              <a:t>) und zentrales Log-Management, um Angriffsversuche frühzeitig zu korrelieren.</a:t>
            </a:r>
          </a:p>
          <a:p>
            <a:pPr marL="0" indent="0">
              <a:buNone/>
            </a:pPr>
            <a:endParaRPr lang="de-CH" sz="2000"/>
          </a:p>
        </p:txBody>
      </p:sp>
    </p:spTree>
    <p:extLst>
      <p:ext uri="{BB962C8B-B14F-4D97-AF65-F5344CB8AC3E}">
        <p14:creationId xmlns:p14="http://schemas.microsoft.com/office/powerpoint/2010/main" val="88197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1B8D3E-5C63-7884-48D9-420FC7C60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1270D1F-0800-B671-C19C-7528A1CCD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22F048-F353-45F3-EF93-342A3CBD0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0F246-161E-A440-5AE9-45C8E8D94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A12865-B317-BA0B-DEBE-B461CFA0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530B5D-DDCB-3734-8359-63F756ADB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7E14D97-7C6A-8D87-5683-C4A3F4712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 fontScale="90000"/>
          </a:bodyPr>
          <a:lstStyle/>
          <a:p>
            <a:r>
              <a:rPr lang="de-CH" sz="3800" b="1">
                <a:solidFill>
                  <a:srgbClr val="FFFFFF"/>
                </a:solidFill>
              </a:rPr>
              <a:t>Fazit &amp; Empfehlung</a:t>
            </a:r>
            <a:br>
              <a:rPr lang="de-DE" sz="3400" b="1">
                <a:solidFill>
                  <a:srgbClr val="FFFFFF"/>
                </a:solidFill>
              </a:rPr>
            </a:br>
            <a:endParaRPr lang="de-CH" sz="3400">
              <a:solidFill>
                <a:srgbClr val="FFFFFF"/>
              </a:solidFill>
            </a:endParaRP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BD7C5C4-2BCE-55C8-6C07-2C8146B2A2FA}"/>
              </a:ext>
            </a:extLst>
          </p:cNvPr>
          <p:cNvGrpSpPr/>
          <p:nvPr/>
        </p:nvGrpSpPr>
        <p:grpSpPr>
          <a:xfrm>
            <a:off x="838200" y="2158719"/>
            <a:ext cx="10515600" cy="1216800"/>
            <a:chOff x="0" y="163268"/>
            <a:chExt cx="10515600" cy="1216800"/>
          </a:xfrm>
        </p:grpSpPr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AC744E0B-B255-6379-AD29-2B56676BCB13}"/>
                </a:ext>
              </a:extLst>
            </p:cNvPr>
            <p:cNvSpPr/>
            <p:nvPr/>
          </p:nvSpPr>
          <p:spPr>
            <a:xfrm>
              <a:off x="0" y="163268"/>
              <a:ext cx="10515600" cy="12168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19" name="Rechteck: abgerundete Ecken 4">
              <a:extLst>
                <a:ext uri="{FF2B5EF4-FFF2-40B4-BE49-F238E27FC236}">
                  <a16:creationId xmlns:a16="http://schemas.microsoft.com/office/drawing/2014/main" id="{EAB03582-CD9A-89D0-9B36-11A6A63CA01A}"/>
                </a:ext>
              </a:extLst>
            </p:cNvPr>
            <p:cNvSpPr txBox="1"/>
            <p:nvPr/>
          </p:nvSpPr>
          <p:spPr>
            <a:xfrm>
              <a:off x="59399" y="222667"/>
              <a:ext cx="10396802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400" kern="1200"/>
                <a:t>Ein Einzelschutz (AV) ist heute ein Glücksspiel</a:t>
              </a:r>
              <a:endParaRPr lang="en-US" sz="2400" kern="1200"/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DFA3C2C6-4C97-026B-444F-2502B8688960}"/>
              </a:ext>
            </a:extLst>
          </p:cNvPr>
          <p:cNvGrpSpPr/>
          <p:nvPr/>
        </p:nvGrpSpPr>
        <p:grpSpPr>
          <a:xfrm>
            <a:off x="838200" y="3562720"/>
            <a:ext cx="10515600" cy="1216800"/>
            <a:chOff x="0" y="1567269"/>
            <a:chExt cx="10515600" cy="1216800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BE55CF0A-B9E2-6EF1-FD88-883BC004B8A9}"/>
                </a:ext>
              </a:extLst>
            </p:cNvPr>
            <p:cNvSpPr/>
            <p:nvPr/>
          </p:nvSpPr>
          <p:spPr>
            <a:xfrm>
              <a:off x="0" y="1567269"/>
              <a:ext cx="10515600" cy="12168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17" name="Rechteck: abgerundete Ecken 6">
              <a:extLst>
                <a:ext uri="{FF2B5EF4-FFF2-40B4-BE49-F238E27FC236}">
                  <a16:creationId xmlns:a16="http://schemas.microsoft.com/office/drawing/2014/main" id="{FCF200BB-C95F-EA71-001F-BA99262CFD66}"/>
                </a:ext>
              </a:extLst>
            </p:cNvPr>
            <p:cNvSpPr txBox="1"/>
            <p:nvPr/>
          </p:nvSpPr>
          <p:spPr>
            <a:xfrm>
              <a:off x="59399" y="1626668"/>
              <a:ext cx="10396802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400" kern="1200"/>
                <a:t>Durch das mehrstufige Konzept erhöhen wir die Detektionsrate von nahezu 0% bei neuen Varianten auf ein Maximum</a:t>
              </a:r>
              <a:endParaRPr lang="en-US" sz="2400" kern="1200"/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D4AF01A-894E-EBD6-D9F1-0B50FFB802B5}"/>
              </a:ext>
            </a:extLst>
          </p:cNvPr>
          <p:cNvGrpSpPr/>
          <p:nvPr/>
        </p:nvGrpSpPr>
        <p:grpSpPr>
          <a:xfrm>
            <a:off x="838200" y="4966720"/>
            <a:ext cx="10515600" cy="1216800"/>
            <a:chOff x="0" y="2971269"/>
            <a:chExt cx="10515600" cy="1216800"/>
          </a:xfrm>
        </p:grpSpPr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31D3CD9F-C230-3C46-EA1F-D3BA314E21B8}"/>
                </a:ext>
              </a:extLst>
            </p:cNvPr>
            <p:cNvSpPr/>
            <p:nvPr/>
          </p:nvSpPr>
          <p:spPr>
            <a:xfrm>
              <a:off x="0" y="2971269"/>
              <a:ext cx="10515600" cy="12168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CH"/>
            </a:p>
          </p:txBody>
        </p:sp>
        <p:sp>
          <p:nvSpPr>
            <p:cNvPr id="13" name="Rechteck: abgerundete Ecken 8">
              <a:extLst>
                <a:ext uri="{FF2B5EF4-FFF2-40B4-BE49-F238E27FC236}">
                  <a16:creationId xmlns:a16="http://schemas.microsoft.com/office/drawing/2014/main" id="{339789F0-73BA-596B-984E-A2E21AFF2189}"/>
                </a:ext>
              </a:extLst>
            </p:cNvPr>
            <p:cNvSpPr txBox="1"/>
            <p:nvPr/>
          </p:nvSpPr>
          <p:spPr>
            <a:xfrm>
              <a:off x="59399" y="3030668"/>
              <a:ext cx="10396802" cy="109800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de-CH" sz="2400" kern="1200"/>
                <a:t>Rollout des EDR-Moduls bei allen 40 KMU-Kunden innerhalb des nächsten Quartals</a:t>
              </a:r>
              <a:endParaRPr lang="en-US" sz="24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2092230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6E3652E1573844CB4FCB752CBF0823E" ma:contentTypeVersion="3" ma:contentTypeDescription="Ein neues Dokument erstellen." ma:contentTypeScope="" ma:versionID="ffe26a30e717f9ac89f7503a5ce829b9">
  <xsd:schema xmlns:xsd="http://www.w3.org/2001/XMLSchema" xmlns:xs="http://www.w3.org/2001/XMLSchema" xmlns:p="http://schemas.microsoft.com/office/2006/metadata/properties" xmlns:ns2="1b9ad53d-3cfc-427d-b0ff-55a3ef62b324" targetNamespace="http://schemas.microsoft.com/office/2006/metadata/properties" ma:root="true" ma:fieldsID="be0590efa2c9332663a3da8c8ee77244" ns2:_="">
    <xsd:import namespace="1b9ad53d-3cfc-427d-b0ff-55a3ef62b3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9ad53d-3cfc-427d-b0ff-55a3ef62b3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8458768-12FB-4C1C-B5A8-4DAEDC0F3332}"/>
</file>

<file path=customXml/itemProps2.xml><?xml version="1.0" encoding="utf-8"?>
<ds:datastoreItem xmlns:ds="http://schemas.openxmlformats.org/officeDocument/2006/customXml" ds:itemID="{1C7B794A-3DA6-477E-B570-9C1E8F6B7990}"/>
</file>

<file path=customXml/itemProps3.xml><?xml version="1.0" encoding="utf-8"?>
<ds:datastoreItem xmlns:ds="http://schemas.openxmlformats.org/officeDocument/2006/customXml" ds:itemID="{F88016DA-3587-4BD0-9C1F-58BBD87DA42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Macintosh PowerPoint</Application>
  <PresentationFormat>Breitbild</PresentationFormat>
  <Paragraphs>37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Optimierung der Ransomware-Erkennung für unsere KMU-Kunden</vt:lpstr>
      <vt:lpstr>Schwachstellenanalyse – Warum die AV versagte </vt:lpstr>
      <vt:lpstr>Bewertung der Erkennungsmethoden </vt:lpstr>
      <vt:lpstr>Das neue mehrstufige Erkennungskonzept </vt:lpstr>
      <vt:lpstr>Fazit &amp; Empfehlung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Sandro Lopes</dc:creator>
  <cp:lastModifiedBy>Sandro Lopes</cp:lastModifiedBy>
  <cp:revision>2</cp:revision>
  <dcterms:created xsi:type="dcterms:W3CDTF">2026-04-17T12:20:13Z</dcterms:created>
  <dcterms:modified xsi:type="dcterms:W3CDTF">2026-04-17T12:31:50Z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0x01010016E3652E1573844CB4FCB752CBF0823E</vt:lpwstr>
  </property>
</Properties>
</file>